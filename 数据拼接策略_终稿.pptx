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-731520"/>
            <a:ext cx="4572000" cy="4572000"/>
          </a:xfrm>
          <a:prstGeom prst="rect">
            <a:avLst/>
          </a:prstGeom>
          <a:solidFill>
            <a:srgbClr val="0E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3200400"/>
            <a:ext cx="1828800" cy="1828800"/>
          </a:xfrm>
          <a:prstGeom prst="rect">
            <a:avLst/>
          </a:prstGeom>
          <a:solidFill>
            <a:srgbClr val="246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大模型预训练数据拼接策略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BBCCF0"/>
                </a:solidFill>
                <a:latin typeface="Times New Roman" panose="02020603050405020304"/>
              </a:defRPr>
            </a:pPr>
            <a:r>
              <a:t>From Random Concatenation to Intelligent Composition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14800"/>
            <a:ext cx="182880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99B0E0"/>
                </a:solidFill>
                <a:latin typeface="微软雅黑" panose="020B0503020204020204" charset="-122"/>
              </a:defRPr>
            </a:pPr>
            <a:r>
              <a:t>Amazon ICML 2024  ·  Meta ICLR 2024  ·  Apple NeurIPS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9B0E0"/>
                </a:solidFill>
                <a:latin typeface="微软雅黑" panose="020B0503020204020204" charset="-122"/>
              </a:defRPr>
            </a:pPr>
            <a:r>
              <a:t>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目  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为什么要做数据拼接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自回归训练 · GPU 约束 · 文档截断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75688"/>
            <a:ext cx="10789920" cy="3657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24027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随机拼接 (Concat-and-Chunk)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6032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基线做法 · 截断统计 · 三个缺陷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944368"/>
            <a:ext cx="10789920" cy="3657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8152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0895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Best-Fit Packing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28999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Amazon ICML 2024 · 装箱建模 · BFD · 线段树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813048"/>
            <a:ext cx="10789920" cy="3657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5020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776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In-Context Pretraining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97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Meta ICLR 2024 · 语义嵌入 · 图遍历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681728"/>
            <a:ext cx="10789920" cy="3657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188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46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Dataset Decomposition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1663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Apple NeurIPS 2024 · 二进制分解 · VSL 课程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550408"/>
            <a:ext cx="10789920" cy="3657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875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715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对比与总结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60350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方法论·性能对比·演进时间线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一、为什么要做数据拼接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自回归机制、自注意力计算与 GPU 约束</a:t>
            </a:r>
          </a:p>
        </p:txBody>
      </p:sp>
      <p:pic>
        <p:nvPicPr>
          <p:cNvPr id="7" name="Picture 6" descr="_t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5486400" cy="708623"/>
          </a:xfrm>
          <a:prstGeom prst="rect">
            <a:avLst/>
          </a:prstGeom>
        </p:spPr>
      </p:pic>
      <p:pic>
        <p:nvPicPr>
          <p:cNvPr id="8" name="Picture 7" descr="_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98511"/>
            <a:ext cx="5486400" cy="556465"/>
          </a:xfrm>
          <a:prstGeom prst="rect">
            <a:avLst/>
          </a:prstGeom>
        </p:spPr>
      </p:pic>
      <p:pic>
        <p:nvPicPr>
          <p:cNvPr id="9" name="Picture 8" descr="_t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56145"/>
            <a:ext cx="5486400" cy="5564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613778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QK^T ∈ R^{L×L}。计算与存储均为 O(L²)。L:2048→8192，成本变为 16 倍。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因果掩码：token t 只关注 1..t−1，但不感知文档边界。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→ 这是跨文档注意力噪声的直接来源。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GPU 要求 batch 内所有序列 shape 一致。变长文档统一到 L 有两种方式：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· Padding：填 [PAD]，mask 掉损失但 GPU 仍计算。利用率≈有效 token 占比。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· Packing (拼接)：多文档拼为等长序列，零填充，利用率 100%。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  → Decoder-only 架构 (GPT 类) 的标准选择。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RefinedWeb 文档长度分布 (Ding et al., 2024)：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· 平均长度 ≈ 600 tokens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· 80%+ 文档 &lt; 1000 tokens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· 约 60% 文档 &lt; 500 tokens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· 仅约 5% 文档 &gt; 2048 tokens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→ L=2048 时绝大多数文档远短于 L，必须拼接。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拼接策略直接决定三个核心指标：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① 文档截断率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   多少文档的完整性在训练中被破坏。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② 跨文档注意力噪声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   多少 GPU 计算被浪费在无关文档之间。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③ 模型幻觉率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   Grounding context 丢失导致的生成问题。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本文四种方法在这三个指标上做出了不同的权衡。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一、为什么要做数据拼接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Ding et al., ICML 2024, Figure 2</a:t>
            </a:r>
          </a:p>
        </p:txBody>
      </p:sp>
      <p:pic>
        <p:nvPicPr>
          <p:cNvPr id="7" name="Picture 6" descr="concat_ex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0"/>
            <a:ext cx="3611880" cy="3474720"/>
          </a:xfrm>
          <a:prstGeom prst="rect">
            <a:avLst/>
          </a:prstGeom>
        </p:spPr>
      </p:pic>
      <p:pic>
        <p:nvPicPr>
          <p:cNvPr id="8" name="Picture 7" descr="concat_e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097280"/>
            <a:ext cx="3611880" cy="3474720"/>
          </a:xfrm>
          <a:prstGeom prst="rect">
            <a:avLst/>
          </a:prstGeom>
        </p:spPr>
      </p:pic>
      <p:pic>
        <p:nvPicPr>
          <p:cNvPr id="9" name="Picture 8" descr="concat_ex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097280"/>
            <a:ext cx="361188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" y="461772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(a) Undefined Names：代码变量定义与使用跨序列分离。自注意力不跨序列→标识符无定义。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61772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(b) Ungrounded Content：时间锚点与摘要句跨序列。序列 B 无法将生成锚定到可见上下文。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61772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(c) Missing Knowledge：会议名与举办地跨序列。完整事实无法从任何单一序列学到。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5212080"/>
            <a:ext cx="11430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Figure 2. Ding et al., ICML 2024.</a:t>
            </a:r>
          </a:p>
        </p:txBody>
      </p:sp>
      <p:pic>
        <p:nvPicPr>
          <p:cNvPr id="14" name="Picture 13" descr="truncation_nl_cou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5440680"/>
            <a:ext cx="5303520" cy="1097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" y="5349240"/>
            <a:ext cx="5303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7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Figure 4: NL 截断率统计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44068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理论分析 (Ding et al., Sec 2.1)：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文档中位置 m 后 token 依赖前 m token 作为 grounding context。若在 k&lt;m 截断，完整模型 A 与截断模型 B 的期望损失差 ΔL(m)&gt;0，对 m 单调递增。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→ 截断不是随机扰动，而是对文档尾部产生系统性偏差。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二、随机拼接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Concat-and-Chunk：GPT-3 / LLaMA / PaLM 等所有主流 LLM 的默认做法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三步操作生成训练序列：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(1) Fisher-Yates shuffle → 随机排列 π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(2) 按 π 顺序 tokenize + EOS → 全局 token 流 T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(3) T 每满 L token 切为一个序列：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pic>
        <p:nvPicPr>
          <p:cNvPr id="8" name="Picture 7" descr="_t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5303520" cy="555979"/>
          </a:xfrm>
          <a:prstGeom prst="rect">
            <a:avLst/>
          </a:prstGeom>
        </p:spPr>
      </p:pic>
      <p:pic>
        <p:nvPicPr>
          <p:cNvPr id="9" name="Picture 8" descr="_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60267"/>
            <a:ext cx="5303520" cy="555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617414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每序列严格 L token，零 padding，GPU 利用率 100%。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Times New Roman" panose="02020603050405020304"/>
              </a:rPr>
              <a:t>截断率实测 (RefinedWeb): L=512→85%, 1024→72%, 2048→60%, 4096→45%, 8192→30%</a:t>
            </a:r>
            <a:endParaRPr sz="11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增大 L 可减截断，但 O(L²) 成本激增。问题未根本解决。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GPT-3 (2020, 175B)→LLaMA (2023, 65B)→PaLM (2022, 540B) 均采用此方案。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五年间被视为"已解决"的工程细节。直到 Ding et al. (2024) 受控实验系统量化了截断代价。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三个根本缺陷 (Ding et al., 2024)：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缺陷一：文档完整性系统性破坏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L=2048 下约 60% 文档以不完整形式参训。代码中变量定义/使用分离→Undefined Name 错误。自然语言因果链切断。大多数训练 token 来自不完整的文档片段。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缺陷二：跨文档注意力噪声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因果掩码不感知文档边界。序列中第 j 文档的 token 无条件 attend 前 j−1 个随机文档。无预测信号。L 越大噪声越高。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缺陷三：幻觉风险增大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Grounding context 与结论跨序列分离→模型被训练为"在缺少充分上下文时也做预测"→推理时忽略给定上下文。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以下三种方法分别从算法/语义/范式三层递进回应这些缺陷。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随机拼接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跨文档注意力噪声的定量分析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噪声来源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标准因果掩码：M[t,j] = −∞ if j&gt;t else 0。token t 可以 attend 到所有 j&lt;t 的 token，无论来自哪个文档。掩码对文档边界完全无感知。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定量估计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设长度为 L 的序列包含 K≈L/E[l]≈2048/600≈3.4 个文档。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对第 k 文档的 token，前 k−1 文档的 token 被无条件 attend。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噪声占比 ≈ (k−1)/K ≈ 70% (对最后一个文档)。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对所有 token 平均后，论文保守估计 15–30% 注意力无预测信号。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影响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代码数据：前序可能是不同编程语言→完全无用的注意力。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知识数据：前序来自不同知识领域→可能产生错误的知识关联。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0" y="118872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缺陷三详解：幻觉风险的因果链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Step 1 — Grounding context 缺失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"ICML 2024 will be held in Vienna" 跨两个序列。序列 A 仅有 "ICML 2024 will be held"，序列 B 仅有 "in Vienna"。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Step 2 — 训练信号扭曲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序列 A 中模型需预测 "in"，但正确答案在序列 B 中不可见。模型只能泛化预测 "at" 或 "on"——语法合理但事实错误。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Step 3 — 行为内化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大量截断样本→模型内化"在不确定时给出语法合理但不保证真实的预测"。推理时即使给了完整上下文，模型仍可能忽略。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三个缺陷的递进关系：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截断 (根因) → 跨文档噪声 (表现) → 幻觉 (后果)。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Best-Fit 攻击根因，ICLM 消灭噪声，DD 重新定义范式。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随机拼接 (3/3) — 总结与引出后续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微软雅黑" panose="020B0503020204020204" charset="-122"/>
              </a:rPr>
              <a:t>随机拼接的核心矛盾：效率最优，质量有损。</a:t>
            </a:r>
            <a:endParaRPr sz="15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优势：零 padding→GPU 利用率 100%。实现极简。均匀采样公平。无需预处理。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劣势：截断率 60%→大多数样本不完整。注意力噪声 15–30%→算力浪费。幻觉风险→模型内化猜测行为。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微软雅黑" panose="020B0503020204020204" charset="-122"/>
              </a:rPr>
              <a:t>三种改进路线构成递进谱系：</a:t>
            </a:r>
            <a:endParaRPr sz="15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路线一 (算法层)：保持"拼成等长序列"框架，用组合优化最小化截断。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  → 三、Best-Fit Packing (Amazon, ICML 2024)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路线二 (语义层)：在"拼成等长序列"框架内，改变文档排列顺序消灭跨文档噪声。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  → 四、ICLM (Meta, ICLR 2024)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路线三 (范式层)：放弃"拼成等长序列"框架，重新定义数据准备方式。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  → 五、DD (Apple, NeurIPS 2024)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三条路线从浅到深，不互斥，可组合使用。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三、Best-Fit Packing (1/6)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Ding, Wang et al. ICML 2024. Amazon AWS. arXiv:2404.10830</a:t>
            </a:r>
          </a:p>
        </p:txBody>
      </p:sp>
      <p:pic>
        <p:nvPicPr>
          <p:cNvPr id="7" name="Picture 6" descr="x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786384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4663440"/>
            <a:ext cx="7863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Figure 1. Best-Fit Packing 两阶段流程 vs Concatenation。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09728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将拼接建模为装箱问题：文档切为 chunk (l≤L)，装最少 bin。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形式化：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pic>
        <p:nvPicPr>
          <p:cNvPr id="10" name="Picture 9" descr="_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286000"/>
            <a:ext cx="3566160" cy="5479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66760" y="292608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NP-Hard (Karp 1972)。BFD 启发式近似。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Phase 1: l&gt;L 切 chunk (~5% 文档)。Phase 2: BFD 装箱。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核心结果：阅读 +4.7% · NLI +9.3% · 上下文跟随 +16.8%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程序合成 +15.0% · 幻觉 −58.3% · 填充 &lt;0.003%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22 任务零退化。HuggingFace TRL 已集成 (strategy="ffd")。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Best-Fit Packing (2/6) — Segmentation 与 BFD Packing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Phase 1 — Segmentation (文档预切分)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l(d) ≤ L → 完整保留为 1 chunk。不做任何切分。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l(d) &gt; L → 切 ⌈l/L⌉ chunk: [L,...,L,r]，r=l mod L。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仅约 5% 文档需切分 (必要截断)。其余 95%+ 完整保留。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Phase 2 — BFD Packing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(a) 计数排序降序 O(N)。l(c)∈[1,L] 有界→无需比较排序。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(b) BFD 贪心：依次处理 chunk，找剩余 ≥l(c) 且最小的 bin。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(c) 线段树加速 O(log L)：BFD 不区分同容量 bin→按容量值组织。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总复杂度 O(N log L)。L=8192→log₂L=13→近似线性。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1B docs≈3h (Python, 单 CPU)。2B docs OBFD vs FFD: 2.5× 加速。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装箱示例 L=8：chunk={6,4,4,3,2,2,1,7,5,8}, Σ=42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降序: [8,7,6,5,4,4,3,2,2,1]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装箱过程: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8→B1[0]; 7→B2[1]; 6→B3[2]; 5→B4[3]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4→B5[4]; 4→B5[0] ★完美; 3→B4[0] ★Best-Fit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2→B3[0]; 2→B6[6]; 1→B2[0]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M=6, 利用率 87.5%。OPT=5。BFD 界: M≤(11/9)OPT+4。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大规模装箱效率 (论文 Table 1)：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RefinedWeb L=2048: +0.0024% | L=8192: +0.00063%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The Stack L=2048: +0.0028%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→ 填充几乎为零！训练步骤数 ≈ 基线！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→ 截断率 60%→~5%，训练成本不变！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→ 四种方法中唯一"纯收益、零代价"方案。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Best-Fit Packing (3/6) — 线段树优化详解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线段树加速的核心前提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BFD 在 Step (b) 中不区分具体是哪个 bin——只关心"有没有容量 ≥l(c) 的 bin，其中剩余最小的是多少"。两个剩余容量相同的 bin 对 BFD 完全等价。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因此只需为 [1,L] 这 L 个容量值维护数据结构，而非为 N 个 bin。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数据结构 — 线段树 (Segment Tree)：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· L 个叶节点对应容量 1..L。第 i 叶值=i (若存在该容量 bin)，否则=-∞。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· 内部节点 = max(左子, 右子)。根节点存储所有叶中的最大值。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查询操作 (找 Best-Fit)：从根出发，若左子最大值 ≥l(c)→进左 (左边有容量够的 bin)。否则→进右。到达叶节点时，叶索引即为 Best-Fit 容量。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更新操作：chunk 放入后，旧容量的叶值改为 -∞，新容量的叶值设为新容量。同时更新从叶到根的路径上所有内部节点。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复杂度对比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朴素 BFD：排序 O(N log N) + 装箱 N×O(M) ≈ O(N²)。不可行。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标准 BFD：排序 O(N log N) + 装箱 N×O(log N)=O(N log N)。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Times New Roman" panose="02020603050405020304"/>
              </a:rPr>
              <a:t>优化 BFD：排序 计数 O(N) + 装箱 N×O(log L)=O(N log L)。</a:t>
            </a:r>
            <a:endParaRPr sz="1200" b="1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论文实测 (单 CPU, Python, Table 2)：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N=1M: FFD 17s→OBFD 10s (1.7×)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N=10M: FFD 205s→OBFD 106s (1.93×)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N=100M: FFD 2311s→OBFD 1066s (2.17×)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N=1B (10亿): FFD 7.3h→OBFD 3.0h (2.44×)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N=2B (20亿): FFD 15.3h→OBFD 6.2h (2.48×)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趋势：加速比随 N 单调递增 (1.7×→2.5×)，O(N log L) vs O(N log N) 优势在 N→∞ 时充分体现。3 小时处理 10 亿文档完全满足工业需求。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Best-Fit Packing (4/6) — 装箱效率与原理分析</a:t>
            </a:r>
          </a:p>
        </p:txBody>
      </p:sp>
      <p:pic>
        <p:nvPicPr>
          <p:cNvPr id="6" name="Picture 5" descr="toy_process_final_trimm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0"/>
            <a:ext cx="576072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617720"/>
            <a:ext cx="5760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Figure 3: 截断理论分析 — ΔL(m) vs token 位置 m</a:t>
            </a:r>
          </a:p>
        </p:txBody>
      </p:sp>
      <p:pic>
        <p:nvPicPr>
          <p:cNvPr id="8" name="Picture 7" descr="truncation_pl_count_2k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66928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4617720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Figure 5: 代码数据截断率统计 (PL)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92040"/>
            <a:ext cx="10789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Figure 3 解读：对任意截断概率 p，截断模型 B 的期望损失始终高于完整模型 A。ΔL 随 token 位置 m 单调递增——越靠近文档末尾的 token 受截断损害越大。这解释了截断对代码生成和知识密集型任务影响最严重的原因。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Figure 5 解读：代码数据 L=2048 下截断率与 NL 接近 (~60%)，但代码对截断更敏感——变量定义/使用分离直接导致 Undefined Name 错误。Best-Fit 在程序合成上 +15.0% 绝对提升的根本原因。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总结：装箱建模→文档完整性从概率约束变为组合优化目标。OBFD→利用 l(c) 有界性实现 O(N log L)。填充率&lt;0.003%→训练效率不变。全维度正向提升无退化→验证了"截断是根因"的假设。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Best-Fit Packing (5/6) — 实验结果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7B/13B · 2K/8K · RefinedWeb + The Stack · 22 子任务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4300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任务类别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提升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代表性数据集 / 说明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阅读理解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+4.7%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RACE(+4.3%), SQuADv2(+4.5%), BoolQ(+5.4%), DROP(+4.8%) 等 8 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自然语言推理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+9.3%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ANLI(+9.4%), HANS, MNLI 共 3 个数据集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上下文跟随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+16.8% 最大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22 项中提升最大。直接回应"截断破坏上下文利用"问题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程序合成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+15.0% 绝对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HumanEval: 28.3→32.5; MBPP: 35.0→38.1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封闭域幻觉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−58.3%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Undefined Name 错误: 3.6%→1.5%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退化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0 / 22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全部 22 子任务无统计显著退化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02336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NTP 训练本质要求"从上下文预测下一个 token"。若 60% 上下文残缺→模型学会"在残缺上下文中预测"。推理时即使给完整上下文，模型仍可能忽略——因为它习惯了。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微软雅黑" panose="020B0503020204020204" charset="-122"/>
              </a:rPr>
              <a:t>消灭截断纠正了这一系统性偏差：上下文完整→模型学会基于完整上文做推断→上下文跟随 +16.8%, 幻觉 −58.3%。因果链路清晰。</a:t>
            </a:r>
            <a:endParaRPr sz="12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方法定位：回应缺陷一 (截断)。不改文档顺序/序列长度，仅改装入方式。HF TRL 已集成。局限：不区分语义→ICLM 补足。两者可组合 (先装箱后排序)。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Best-Fit Packing (6/6) — 零代价证明与方法定位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为什么 Best-Fit 是"零代价"方案？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训练效率维度：填充增加 &lt;0.003%→序列总数几乎不变→每 epoch 训练步数不变→训练总时间不变。GPU 利用率仍为 100%。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预处理维度：O(N log L) 近线性。10 亿文档约 3 小时 (单 CPU)。相对训练本身 (数百 GPU 数周)，预处理时间可忽略不记。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工程集成维度：HuggingFace TRL 已集成 (strategy="ffd")。只需替换数据准备的 packing 函数。不改模型、不改训练循环、不改其他超参。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在三种改进方法中的定位：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改动范围：仅修改"文档→序列"这一步。是最浅层的改进。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投入产出比：最低投入 (零代价)，最全面收益 (22 子任务无退化)。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兼容性：与 ICLM 完全正交 (装箱 vs 排序)，可组合使用。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落地门槛：三种方法中最低。已有成熟开源实现 (HF TRL)。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从随机拼接到 Best-Fit 的认知转变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随机拼接的核心假设：文档怎么装进序列不重要——GPU 效率优先。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Best-Fit 用受控实验证伪了这一假设：改变装入方式即可获得全维度正向提升，且无代价。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这一发现将数据拼接从"工程细节"重新定义为"影响模型质量的关键因素"。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Best-Fit 的局限性：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仍不区分文档语义——两个主题无关的文档可能因长度匹配被放入同一序列。跨文档注意力噪声仍然存在 (只是每个文档内部完整了)。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这是 ICLM 的出发点：在保证文档完整性的基础上，通过语义排序让相关文档在一起，进一步消灭跨文档注意力噪声。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四、In-Context Pretraining (1/6)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Shi, Min et al. ICLR 2024. Meta AI. arXiv:2310.10638</a:t>
            </a:r>
          </a:p>
        </p:txBody>
      </p:sp>
      <p:pic>
        <p:nvPicPr>
          <p:cNvPr id="7" name="Picture 6" descr="m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786384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4663440"/>
            <a:ext cx="7863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Figure 2. ICLM 两步流程：(1)检索构建文档图 (2)图遍历→上下文窗口。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09728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Best-Fit 消灭截断，但语义噪声仍存：同一窗口文档随机相遇。ICLM 让语义相关文档出现在同一上下文。仅改排序，不改架构/目标。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Step 1：Contriever 编码→768 维向量。FAISS ANN→top-10 最近邻。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Step 2：文档图 (节点=文档, 边=互为邻居)→贪心图遍历→排序路径→切为上下文窗口。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核心结果：ICL +8% · 阅读 +15% (最高) · 忠实度 +16% · 检索 +9% · 附带语义去重。效果随数据规模单调递增。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ICLM (2/6) — 文档嵌入与相似度计算</a:t>
            </a:r>
          </a:p>
        </p:txBody>
      </p:sp>
      <p:pic>
        <p:nvPicPr>
          <p:cNvPr id="6" name="Picture 5" descr="intr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0"/>
            <a:ext cx="54864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3429000"/>
            <a:ext cx="5486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Figure 1: ICLM vs Standard Pretraining 总览对比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097280"/>
            <a:ext cx="5852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Contriever (Izacard et al., 2022)：无监督对比学习。最后一层隐藏态平均池化：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pic>
        <p:nvPicPr>
          <p:cNvPr id="9" name="Picture 8" descr="_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94560"/>
            <a:ext cx="5852160" cy="7097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3105476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余弦相似度 &amp; 最近邻：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pic>
        <p:nvPicPr>
          <p:cNvPr id="11" name="Picture 10" descr="_t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05476"/>
            <a:ext cx="5852160" cy="5573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3863993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FAISS IVF-PQ: 235M docs, 50M/batch, 8 GPU, ~6h。暴力搜索需数周。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2880" y="361188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文档图构建：节点=全部文档。边满足双向条件 (至少一方在对方 top-10 中)：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pic>
        <p:nvPicPr>
          <p:cNvPr id="14" name="Picture 13" descr="_t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114800"/>
            <a:ext cx="5486400" cy="5564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288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w(d_i,d_j)=sim(d_i,d_j)。双向条件保证连通性。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图中多个不连通簇，簇内文档主题相关。孤立文档单独成点。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附带语义去重：sim&gt;0.98→近似重复→自动移除。消融确认去重关键。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ICLM (3/6) — 贪心图遍历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目标：在文档图 G 上找覆盖每个文档恰好一次的哈密顿路径，最大化相邻文档相似度之和：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endParaRPr sz="2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pic>
        <p:nvPicPr>
          <p:cNvPr id="7" name="Picture 6" descr="_t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5669280" cy="7092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60604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Maximum TSP (NP-Hard)。N=235M，精确算法不可行。双层贪心近似：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外层 — 选链段起点：每次从未访问节点中选度数最小的。度数低=相似文档少。优先处理避免最后孤立。最小度数优先启发式 (Min-Degree-First)。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内层 — 扩展链段：从当前节点出发，在未访问邻居中选余弦相似度最高的作为下一步。重复到当前连通分量全部访问 (死胡同)→回外层选新起点。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复杂度：每条边在检查时最多访问一次。|L|≈N·k/2≈1.2B 边→O(N·k)=O(N)。20 CPU×12h (235M 文档)。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路径→上下文窗口：沿路径累积 token 到 L 切窗口。batch 内取路径不同区段保多样性。相邻文档语义相关 → 跨文档注意力从噪声变信号。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0" y="118872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为什么从最小度数节点开始？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图的度数分布不均匀。热门文档度数极高，冷门文档度数极低。若最后留冷门文档，其邻居可能已全部访问→成为孤立点→只能零权边跳转→路径高权边少→语义连贯性差。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最小度数优先→先处理冷门→冷门节点的邻居大概率也未访问→可在它们之间形成短但连贯的链段。热门节点度数高，晚处理也能找到出路。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论文验证：最小度数起点 vs 随机起点，前者路径的平均余弦相似度显著更高 (0.35 vs 0.27，随机排列仅 0.02)。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计算开销：检索 32GPU×6h + 图遍历 20CPU×12h + 训练 128A100×9d。预处理占训练总成本 &lt;2%。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方法定位：回应缺陷二 (噪声)。可与 Best-Fit 组合。需跨文档推理 (RAG/ICL/多跳) 受益最大。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ICLM (4/6) — k 值分析与语义去重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k (top-k 最近邻) 对图结构的影响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k 控制文档图的连接密度——这是 ICLM 最关键的超参数。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k=1：每文档仅连最相似 1 个邻居。图极度稀疏，大量孤立节点和小型连通分量。路径频繁断裂→大量零权边→语义连贯性最差。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k=5：每文档连 5 个邻居 (+被连)。图的中等密度。多数文档形成中等大小连通分量。路径断裂减少但仍有较多零权边。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k=10 (论文最优)：每文档连 10 个邻居。图在连接性和多样性之间取得平衡。各语义主题形成稳定的连通分量。路径中零权边最少，语义连贯性最强。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k=20：图过于稠密。高流行度文档被过度连接 (度数≈k²)，图遍历路径被少数热门文档主导，丧失语义多样性。训练效率下降 (路径倾向于停留在少量高密度区域)。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语义去重 — ICLM 的附带收益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在 FAISS 检索阶段，论文发现近似重复文档 (同一文档的多个镜像/轻微编辑版) 产生极高的余弦相似度 (sim&gt;0.98)。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这些近似重复对在文档图中自然形成密集子图——它们之间的相似度极高，且与外部文档的相似度分布也高度一致。ICLM 可以在构建图的过程中直接识别这些子图并去重。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消融实验确认：不做语义去重将导致 ICLM 效果显著退化。近重复文档扭曲了图的度数分布 (这些文档的度数异常高)，图遍历路径被过度引导向这些重复区域，降低了路径的语义多样性。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这证明了：语义去重不是可选的附加步骤，而是 ICLM pipeline 的必要组成部分。论文在最终方案中包含了这一步骤。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消融总结：k=10 最优；BM25 替代 Contriever 效果下降 (短文档和代码尤甚)；不去重显著退化。三项消融共同确认了 ICLM 各组件设计的合理性。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ICLM (5/6) — 实验结果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300B tokens CommonCrawl · 7B · L=8192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430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任务类别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提升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数据集 / 说明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In-Context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+8%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7 分类数据集 (32-shot)。全部优于 Standard。与 kNN 持平且无重复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阅读理解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+15% 最高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SQuADv2, RACE, BoolQ, DROP, HotpotQA 等 6 ds (2-shot)。四种方法最高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忠实度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+16%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NQ-Swap, MemoTrap。更倾向于遵循给定上下文而非依赖预训练记忆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检索增强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+9%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Wikipedia 外部知识的开放域 QA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长上下文推理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+5%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长上下文基准测试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困惑度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全部更低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Wikipedia/Arxiv/Books, 0.3B–7B 全部规模优于 Standard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pp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840480"/>
            <a:ext cx="484632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3730752"/>
            <a:ext cx="4846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7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Figure 3: 各模型规模 ICLM PPL 均低于 Standard</a:t>
            </a:r>
          </a:p>
        </p:txBody>
      </p:sp>
      <p:pic>
        <p:nvPicPr>
          <p:cNvPr id="10" name="Picture 9" descr="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3840480"/>
            <a:ext cx="649224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3730752"/>
            <a:ext cx="64922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7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Figure 4: ICLM 效果随训练过程的演化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303520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扩展性：数据 100M→10B tokens, ICLM 优势 +4%→+11%，单调递增无饱和。更大规模下优势可能继续扩大。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阅读理解提升最大 (+15%) 的原因：ICLM 预训练输入 = 多篇相关文档 → 天然"综合多文档"格式 → 与 2-shot ICL 评估分布对齐。这是预训练与推理分布对齐 (Distribution Alignment) 的直接体现。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ICLM (6/6) — 方法定位与组合使用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ICLM 的独特位置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四种方法中唯一从"语义层面"解决拼接质量的方法。与 Best-Fit (长度层面) 完全正交——前者决定空间安排 (哪些 chunk 放一起)，后者决定时间顺序 (文档排列的先后)。两者在同一训练管线中共存。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ICLM 与 In-Context Learning 的深层关系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ICL (推理) 要求模型利用上下文中的几个示例快速适应新任务。这个能力的前提：模型在预训练中就学会了"阅读并利用上下文中的相关信息"。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随机拼接：上下文内文档随机→没有练习跨文档推理→推理时做 ICL 需要的能力是预训练中未训练过的。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ICLM：上下文内文档相关→频繁练习跨文档推理→推理时做 ICL 的能力正是预训练中被大量训练的。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同样逻辑解释忠实度 +16%：当模型习惯上下文中的文档是可靠信息源时，更倾向于依赖给定上下文而非预训练记忆。这对 RAG 场景至关重要 (需要引用检索到的文档)。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工业可行性分析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优点：仅改变排序，不改模型架构/训练目标。可直接集成到现有预训练管线。附带语义去重 (无需额外计算)。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门槛：(1) 需要 GPU 集群做嵌入和检索 (32 GPU)。虽 &lt;2% 训练总成本但增加基础设施需求。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(2) 依赖 Contriever 嵌入质量。对非英语语料可能需要重新训练嵌入模型 (论文明确的局限性)。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(3) 预处理离线完成，多 epoch 训练时数据顺序不变。如需不同 epoch 用不同排序→需重新检索和遍历。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组合使用建议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Best-Fit + ICLM：Phase 1 Best-Fit 装箱保证完整性→Phase 2 ICLM 排序增强语义连贯性。两者完全正交，可叠加。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DD + ICLM：桶内做语义排序 (相关主题文档片段在训练时间上靠近)。桶间由 VSL 课程调度决定采样顺序。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五、Dataset Decomposition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Pouransari, Li et al. NeurIPS 2024. Apple + Anthropic. arXiv:2405.13226</a:t>
            </a:r>
          </a:p>
        </p:txBody>
      </p:sp>
      <p:pic>
        <p:nvPicPr>
          <p:cNvPr id="7" name="Picture 6" descr="x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685800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4663440"/>
            <a:ext cx="6858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二进制分解示意：文档按 l=Σ2^{i_k} 切分，各入对应桶 (D₈~D₁₃)。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0972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前三种方法回答"如何把文档拼成固定 L"。DD 问：L 为什么要固定？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二进制分解 — 文档按长度 l 的二进制展开切分：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pic>
        <p:nvPicPr>
          <p:cNvPr id="10" name="Picture 9" descr="_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560320"/>
            <a:ext cx="4572000" cy="7087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320040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长度 2^{i_k}→桶 D_{i_k}。i∈{8..13}={256,512,1024,2048,4096,8192}。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例: 2200=2048+128+16+8→D₁₁,D₇,D₄,D₃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例: 5600=4096+1024+256+128+64+32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桶内序列同长→天然对齐。每序列=单文档片段→零跨文档注意力。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核心结果：6×加速 · 4×数据效率 · 训8K≈训2K · Loss 3.18。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DD (3/6) — 1000 文档示例与 VSL 训练分析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1000 文档完整示例 (μ=2000, σ=1500, Σ≈2,000,000 tokens)：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二进制分解后桶分布：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D₁₃(8192):~45 条 → ~368K (18.4%) | D₁₂(4096):~120 → ~492K (24.6%)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D₁₁(2048):~280 → ~573K (28.7%) ← token 最多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D₁₀(1024):~350 → ~358K (17.9%) | D₉(512):~300 → ~154K (7.7%)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D₈(256):~200 → ~51K (2.6%)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共~1295 序列, ~1,996,800 tokens。零丢弃, 零 padding。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VSL 训练 (b=2,000,000) 各桶 step 特征：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D₁₃: BS≈244, FLOPs∝b×8192 (与传统相同)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D₁₁: BS≈976, FLOPs∝b×2048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D₈: BS≈7812, FLOPs∝b×256 (极低廉，大 batch→稳定梯度)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</a:rPr>
              <a:t>DD 与前三种方法在文档处理上的根本区别：</a:t>
            </a:r>
            <a:endParaRPr sz="13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随机拼接：文档被位置随机截断→不完整片段+噪声。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Best-Fit：文档按长度 (l&gt;L) 确定切分。l≤L 完整。序列可含多文档。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ICLM：Best-Fit 基础上做语义排序。文档处理方式不变。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DD：主动切分所有文档为 2 的幂次片段。切分是精心设计的 (GPU 友好的长度, 来自同一文档连续区域)。不同文档片段永不混在同一序列中。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DD 的序列数自然多于原始文档数 (1000→1295)。但在 VSL 训练中，大多数步来自短桶 (D₈-D₁₀)，这些步 batch size 极大、FLOPs 极低。加权后总训练时间反而更短。这是 DD 6× 加速的数学基础。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方法定位：打破从 GPT-1 起"序列长度必须固定"的根本范式。与 BF/ICLM 兼容——桶内可再做装箱优化和语义排序。需修改训练循环 (变长 batch + 课程调度)。课程不可省略。已开源 (github.com/apple/ml-dataset-decomposition)。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DD (4/6) — Grow-P2 课程深入分析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Grow-P2 为什么有效？—— 课程学习的理论直觉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机器学习中的课程学习 (Curriculum Learning, Bengio et al., 2009) 核心思想：先学简单样本，逐步过渡到复杂样本。DD 将这一思想引入了序列长度维度。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微软雅黑" panose="020B0503020204020204" charset="-122"/>
              </a:rPr>
              <a:t>短序列步 (&lt;1024 tokens)：覆盖词频统计、语法结构、短程依赖。这些"基础能力"对序列长度不敏感——512 token 足以覆盖绝大多数语法现象。大量廉价训练步骤提供了稳定的基础语言能力。</a:t>
            </a:r>
            <a:endParaRPr sz="1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中等序列步 (2048–4096)：增加段落级上下文。模型开始学习跨句依赖、局部篇章结构。此时基础已经打牢，增加长上下文不会导致训练不稳定。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长序列步 (8192)：集中学习长程依赖、跨段落推理。这些步骤数量少但效果显著——因为基础能力已在廉价训练中打好。类比：先学好基础课再上专业课，比一开始就上专业课更高效。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Grow-P2 vs 其他课程策略的消融分析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Baseline (Concat-and-Chunk, 固定 L=8192)：Loss=3.55。无 VSL，无课程。所有训练步都使用最长的序列长度，每步成本最高。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DD + Random：各桶按 token 量均匀随机采样。Loss=3.35。VSL 训练本身降低 Loss 0.20——长度可变训练的泛化能力优于固定长度训练。但无课程调度时，长序列步在早期就占用大量算力，效率低下。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Times New Roman" panose="02020603050405020304"/>
              </a:rPr>
              <a:t>DD + Linear：线性调整各桶权重。Loss=3.22。有调度优于随机调度，但线性不够精细——早期长桶权重仍然偏高。</a:t>
            </a:r>
            <a:endParaRPr sz="1000" b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1A1A1A"/>
                </a:solidFill>
                <a:latin typeface="Times New Roman" panose="02020603050405020304"/>
              </a:rPr>
              <a:t>DD + Grow-P2：2 幂次递减权重。Loss=3.18 ✓ (最优)。权重曲线形状恰好匹配训练的自然需求——早期极度偏向短桶 (指数级倾斜)，后期逐步拉平。</a:t>
            </a:r>
            <a:endParaRPr sz="1000" b="1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课程贡献分析：Grow-P2 在 Random 基础上再降 Loss 0.17。贡献了约 46% 的总增益 (0.17/0.37)。课程不是锦上添花——没有课程，DD 的一半增益将丢失。这是 DD 论文最重要的消融发现。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DD (5/6) — 实验结果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RefinedWeb (525B) + DCLM · 160M–1B · L_max=8192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43000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3963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训练加速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6×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达到相同 Loss 仅需 1/6 训练 token (time-to-accuracy)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数据效率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4×+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优势单调递增: 10B +3%→200B +15%→1.1T +22%。未饱和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长上下文成本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训 8K≈训 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RULER: DD(8K) 73.0 vs 基线(2K) 55.1 vs 基线(8K) 62.3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消融 (Grow-P2)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Loss 3.18 最优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DD+Grow-P2 3.18 &gt; DD+Linear 3.22 &gt; DD+Random 3.35 &gt; 基线 3.55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课程贡献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~46% 总增益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Grow-P2 在 Random 基础上再降 0.17 Loss。课程为必须组件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开源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GitHub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github.com/apple/ml-dataset-decomposition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x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657600"/>
            <a:ext cx="502920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3547872"/>
            <a:ext cx="5029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7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训练效率曲线: DD vs Concat-and-Chunk 基线</a:t>
            </a:r>
          </a:p>
        </p:txBody>
      </p:sp>
      <p:pic>
        <p:nvPicPr>
          <p:cNvPr id="10" name="Picture 9" descr="x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657600"/>
            <a:ext cx="6309360" cy="1463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3547872"/>
            <a:ext cx="63093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700" b="0">
                <a:solidFill>
                  <a:srgbClr val="1A1A1A"/>
                </a:solidFill>
                <a:latin typeface="Times New Roman" panose="02020603050405020304"/>
              </a:defRPr>
            </a:pPr>
            <a:r>
              <a:t>消融: Grow-P2 vs Linear vs Random 课程策略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212080"/>
            <a:ext cx="11612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方法定位：DD 是唯一打破"固定 L"范式的方法。深度创新但落地门槛高——需修改训练循环。与 BF/ICLM 兼容 (桶内可装箱+排序)。适用场景：预算有限需高效训长上下文；或追求训练效率最大化。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局限：二进制分解增加预处理。若完全不训长序列→无长上下文能力→后期必须包含足够长序列比例。对非 2 幂次 L 需 padding。验证规模 1B，百亿+规模尚未验证。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DD (6/6) — 范式意义与组合使用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DD 的范式意义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从 2018 年 GPT-1 起，LLM 预训练的一个基本前提是"序列长度必须固定"。这是 GPU 硬件约束的直接推论。所有人都在这个前提下做优化——如何更好地把文档装入固定长度的容器。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DD 证明了一个被长期忽视的事实：序列长度可以不固定。通过 VSL 训练 (序列长度与 batch size 互为倒数)，每步总 token 数恒为 b，GPU 效率不受损失。固定长度范式是历史惯性的产物，不是计算的必然。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微软雅黑" panose="020B0503020204020204" charset="-122"/>
              </a:rPr>
              <a:t>这一洞察的影响超出了数据拼接本身。它为训练长上下文模型提供了一种全新的经济可行的路径：不需要支付 O(L²) 的全额代价，通过课程调度可以将长上下文训练成本降至传统短上下文水平。</a:t>
            </a:r>
            <a:endParaRPr sz="11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DD 的局限与未来方向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微软雅黑" panose="020B0503020204020204" charset="-122"/>
              </a:rPr>
              <a:t>当前验证在 1B 规模。百亿+参数规模的验证尚未进行——DD 在超大模型上的行为有待验证。二进制分解产生的碎片 (一篇文档拆为多段) 是否在更大规模上产生新的问题 (如长文档的跨片段一致性) 有待研究。</a:t>
            </a:r>
            <a:endParaRPr sz="10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</a:rPr>
              <a:t>三种方法的组合使用路线图</a:t>
            </a:r>
            <a:endParaRPr sz="1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基础层 — Best-Fit Packing：在所有场景优先采用。零代价消灭不必要截断。已集成 HF TRL，开箱即用。提供文档完整性的基本保证。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增强层 — ICLM：在需要跨文档推理的下游任务上叠加。RAG、Few-shot ICL、多跳推理受益最大。需额外 GPU 设施 (检索)。与 Best-Fit 完全正交——Phase 1 装箱保证完整性→Phase 2 排序增强连贯性。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微软雅黑" panose="020B0503020204020204" charset="-122"/>
              </a:rPr>
              <a:t>范式层 — DD：面向未来高效长上下文训练。与 Best-Fit 和 ICLM 均兼容——在桶内对序列做装箱优化和语义排序。需修改训练循环但总训练成本大幅降低。目前最前沿但落地门槛最高。</a:t>
            </a:r>
            <a:endParaRPr sz="11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1A"/>
                </a:solidFill>
                <a:latin typeface="微软雅黑" panose="020B0503020204020204" charset="-122"/>
              </a:rPr>
              <a:t>选择建议：从 Best-Fit 开始 (最低投入)→按需叠加 ICLM (需跨文档推理时)→关注 DD 进展 (高效长上下文是大趋势，等待百亿+规模验证后大规模推广)。</a:t>
            </a:r>
            <a:endParaRPr sz="12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六、四种方法对比 — 方法论 (1/3)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143000"/>
          <a:ext cx="1179576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/>
                <a:gridCol w="2359152"/>
                <a:gridCol w="2359152"/>
                <a:gridCol w="2359152"/>
                <a:gridCol w="2359152"/>
              </a:tblGrid>
              <a:tr h="584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随机拼接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Best-Fit Packing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ICLM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Dataset Decomp.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操作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打乱→EOS→按L切分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l&gt;L切chunk, BFD装箱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Contriever→FAISS→图遍历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二进制分解→入桶→VSL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优化目标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GPU利用率(零padding)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文档完整性(最小截断)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语义连贯性(噪声→信号)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训练成本(6×加速)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截断率(L=2048)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~60%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&lt;5%(仅l&gt;L必要截断)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&lt;1%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100%主动分解(非截断)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跨文档注意力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大量噪声(~15-30%)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存在(chunk间)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存在(相关,可能有用)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零(单文档片段)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序列长度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固定L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大多为L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大多为L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{256,...,8192},动态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额外开销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极小 O(N log L)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中等(检索+图遍历)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小(分解+课程)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工程成熟度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所有框架原生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HF TRL已集成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需GPU集群(检索)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Apple已开源(OpenLM)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发表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GPT-3,LLaMA,PaLM等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Ding et al. ICML 2024 Amazon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Shi et al. ICLR 2024 Meta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Pouransari et al. NeurIPS 2024 Apple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六、四种方法对比 — 性能与递进关系 (2/3)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143000"/>
          <a:ext cx="1179576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/>
                <a:gridCol w="2359152"/>
                <a:gridCol w="2359152"/>
                <a:gridCol w="2359152"/>
                <a:gridCol w="2359152"/>
              </a:tblGrid>
              <a:tr h="65722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随机拼接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Best-Fit Packing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ICLM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Dataset Decomp.</a:t>
                      </a:r>
                    </a:p>
                  </a:txBody>
                  <a:tcPr>
                    <a:solidFill>
                      <a:srgbClr val="144DD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训练效率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≈100%(&lt;0.003%)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≈100%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加权约6×更快(vs L=8192)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阅读理解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基线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+4.7%(8 ds)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+15%(6 ds)←最高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Loss 3.18 vs 3.55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上下文/幻觉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+16.8% / −58.3%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忠实度+16% / 检索+9%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RULER 73.0(vs 55.1)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数据效率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1×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≈1×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≈1×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4×+(单调↑,未饱和)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长上下文成本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O(L²);L×4→×16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同左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同左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训8K≈传统2K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递进关系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起点:发现截断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回应缺陷一(截断)</a:t>
                      </a:r>
                    </a:p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装箱消灭不必要截断</a:t>
                      </a:r>
                    </a:p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零代价,可组合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回应缺陷二(噪声)</a:t>
                      </a:r>
                    </a:p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语义排序→信号</a:t>
                      </a:r>
                    </a:p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与BF正交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回应范式(固定L)</a:t>
                      </a:r>
                    </a:p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不再要求L固定</a:t>
                      </a:r>
                    </a:p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与前两者兼容</a:t>
                      </a:r>
                    </a:p>
                  </a:txBody>
                  <a:tcPr>
                    <a:solidFill>
                      <a:srgbClr val="E8EEF7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推荐场景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快速原型,管线验证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正式预训练(百亿+)</a:t>
                      </a:r>
                    </a:p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最成熟改进方案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跨文档推理:RAG/ICL</a:t>
                      </a:r>
                    </a:p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多跳推理,检索增强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高效长上下文训练</a:t>
                      </a:r>
                    </a:p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预算受限,效率优先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六、总结与演进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1A1A"/>
                </a:solidFill>
                <a:latin typeface="Times New Roman" panose="02020603050405020304"/>
              </a:defRPr>
            </a:pPr>
            <a:r>
              <a:t>2018–2023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GPT-3 (2020,175B,L=2048)、LLaMA (2023,7B–65B)、PaLM (2022,540B) 等统一使用随机拼接。五年间被视为已解决的工程细节。Ding et al. (2024) 统计截断率约 60%。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487168"/>
            <a:ext cx="10789920" cy="3657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1A1A"/>
                </a:solidFill>
                <a:latin typeface="Times New Roman" panose="02020603050405020304"/>
              </a:defRPr>
            </a:pPr>
            <a:r>
              <a:t>2024.01 ICLR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Shi et al. (Meta) — ICLM。Contriever+FAISS+贪心图遍历。仅改排序不改架构。阅读+15%,忠实度+16%,附带语义去重。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858768"/>
            <a:ext cx="10789920" cy="3657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1A1A"/>
                </a:solidFill>
                <a:latin typeface="Times New Roman" panose="02020603050405020304"/>
              </a:defRPr>
            </a:pPr>
            <a:r>
              <a:t>2024.04 ICML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Ding et al. (Amazon) — Best-Fit Packing。装箱+BFD+线段树 O(N log L)。零代价截断 60%→~5%，幻觉−58.3%。HF TRL 已集成。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230368"/>
            <a:ext cx="10789920" cy="3657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1A1A"/>
                </a:solidFill>
                <a:latin typeface="Times New Roman" panose="02020603050405020304"/>
              </a:defRPr>
            </a:pPr>
            <a:r>
              <a:t>2024.05 NeurIPS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150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Pouransari et al. (Apple) — Dataset Decomposition。二进制分解+VSL+Grow-P2 打破固定 L 范式。6× 加速，训8K≈传统2K。开源。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02552"/>
            <a:ext cx="12191695" cy="27432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347472"/>
            <a:ext cx="36576" cy="41148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参考文献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[1]  Ding, Wang et al. "Fewer Truncations Improve Language Modeling." ICML 2024. arXiv:2404.10830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2821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[2]  Shi, Min et al. "In-Context Pretraining." ICLR 2024. arXiv:2310.10638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30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[3]  Pouransari, Li et al. "Dataset Decomposition." NeurIPS 2024. arXiv:2405.13226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328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[4]  Brown et al. "Language Models are Few-Shot Learners." NeurIPS 2020.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352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[5]  Touvron et al. "LLaMA: Open and Efficient Foundation Language Models." 2023.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37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[6]  Chowdhery et al. "PaLM: Scaling Language Modeling with Pathways." 2022.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3989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[7]  Zhao et al. "Analysing The Impact of Sequence Composition on LM Pre-Training." ACL 2024.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422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[8]  Izacard et al. "Unsupervised Dense Information Retrieval with Contrastive Learning." TMLR 2022.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4456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[9]  Johnson et al. "Billion-scale similarity search with GPUs." IEEE Big Data 2019.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4690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[10] Zhuang et al. "LongPack." ICLR 2025.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49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[11] Yin et al. "Seamless Data Packing." ACL 2025 Findings.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75157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[12] Dai et al. "DeepSeek-V2." 2024. arXiv:2405.04434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371600" y="3474720"/>
            <a:ext cx="5943600" cy="5943600"/>
          </a:xfrm>
          <a:prstGeom prst="rect">
            <a:avLst/>
          </a:prstGeom>
          <a:solidFill>
            <a:srgbClr val="0E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0">
                <a:solidFill>
                  <a:srgbClr val="BBCCF0"/>
                </a:solidFill>
                <a:latin typeface="Times New Roman" panose="02020603050405020304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657600"/>
            <a:ext cx="164592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9B0E0"/>
                </a:solidFill>
                <a:latin typeface="微软雅黑" panose="020B0503020204020204" charset="-122"/>
              </a:defRPr>
            </a:pPr>
            <a:r>
              <a:t>大模型预训练数据拼接策略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99B0E0"/>
                </a:solidFill>
                <a:latin typeface="微软雅黑" panose="020B0503020204020204" charset="-122"/>
              </a:defRPr>
            </a:pPr>
            <a:r>
              <a:t>2026 年 6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16389</Words>
  <Application>WPS 演示</Application>
  <PresentationFormat>On-screen Show (4:3)</PresentationFormat>
  <Paragraphs>943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Arial</vt:lpstr>
      <vt:lpstr>宋体</vt:lpstr>
      <vt:lpstr>Wingdings</vt:lpstr>
      <vt:lpstr>Arial</vt:lpstr>
      <vt:lpstr>微软雅黑</vt:lpstr>
      <vt:lpstr>Times New Roman</vt:lpstr>
      <vt:lpstr>Calibri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升</cp:lastModifiedBy>
  <cp:revision>2</cp:revision>
  <dcterms:created xsi:type="dcterms:W3CDTF">2013-01-27T09:14:00Z</dcterms:created>
  <dcterms:modified xsi:type="dcterms:W3CDTF">2026-06-22T14:35:41Z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8E104FE2BD984D14AC60C80792DF0FC6_12</vt:lpwstr>
  </property>
</Properties>
</file>